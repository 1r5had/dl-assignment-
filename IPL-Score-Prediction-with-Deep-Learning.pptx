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10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14630400" cy="8229600"/>
  <p:notesSz cx="8229600" cy="146304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611"/>
    <p:restoredTop sz="94610"/>
  </p:normalViewPr>
  <p:slideViewPr>
    <p:cSldViewPr snapToGrid="0" snapToObjects="1">
      <p:cViewPr varScale="1">
        <p:scale>
          <a:sx n="80" d="100"/>
          <a:sy n="80" d="100"/>
        </p:scale>
        <p:origin x="139" y="6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33073020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0C0C0C"/>
          </a:solidFill>
          <a:ln/>
        </p:spPr>
      </p:sp>
      <p:sp>
        <p:nvSpPr>
          <p:cNvPr id="3" name="Shape 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272525"/>
          </a:solidFill>
          <a:ln/>
        </p:spPr>
      </p:sp>
      <p:pic>
        <p:nvPicPr>
          <p:cNvPr id="4" name="Image 0" descr="preencoded.png">
            <a:hlinkClick r:id="rId2"/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2839215" y="7749540"/>
            <a:ext cx="1722605" cy="411480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8" Type="http://schemas.openxmlformats.org/officeDocument/2006/relationships/image" Target="../media/image8.png"/><Relationship Id="rId3" Type="http://schemas.openxmlformats.org/officeDocument/2006/relationships/image" Target="../media/image3.png"/><Relationship Id="rId7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6.pn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8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5.xml"/><Relationship Id="rId4" Type="http://schemas.openxmlformats.org/officeDocument/2006/relationships/image" Target="../media/image8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png"/><Relationship Id="rId3" Type="http://schemas.openxmlformats.org/officeDocument/2006/relationships/image" Target="../media/image11.png"/><Relationship Id="rId7" Type="http://schemas.openxmlformats.org/officeDocument/2006/relationships/image" Target="../media/image1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6.xml"/><Relationship Id="rId6" Type="http://schemas.openxmlformats.org/officeDocument/2006/relationships/image" Target="../media/image14.png"/><Relationship Id="rId5" Type="http://schemas.openxmlformats.org/officeDocument/2006/relationships/image" Target="../media/image13.png"/><Relationship Id="rId4" Type="http://schemas.openxmlformats.org/officeDocument/2006/relationships/image" Target="../media/image12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2.png"/><Relationship Id="rId3" Type="http://schemas.openxmlformats.org/officeDocument/2006/relationships/image" Target="../media/image17.png"/><Relationship Id="rId7" Type="http://schemas.openxmlformats.org/officeDocument/2006/relationships/image" Target="../media/image21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0.png"/><Relationship Id="rId11" Type="http://schemas.openxmlformats.org/officeDocument/2006/relationships/image" Target="../media/image8.png"/><Relationship Id="rId5" Type="http://schemas.openxmlformats.org/officeDocument/2006/relationships/image" Target="../media/image19.png"/><Relationship Id="rId10" Type="http://schemas.openxmlformats.org/officeDocument/2006/relationships/image" Target="../media/image24.png"/><Relationship Id="rId4" Type="http://schemas.openxmlformats.org/officeDocument/2006/relationships/image" Target="../media/image18.png"/><Relationship Id="rId9" Type="http://schemas.openxmlformats.org/officeDocument/2006/relationships/image" Target="../media/image2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5.png"/><Relationship Id="rId7" Type="http://schemas.openxmlformats.org/officeDocument/2006/relationships/image" Target="../media/image8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8.xml"/><Relationship Id="rId6" Type="http://schemas.openxmlformats.org/officeDocument/2006/relationships/image" Target="../media/image28.png"/><Relationship Id="rId5" Type="http://schemas.openxmlformats.org/officeDocument/2006/relationships/image" Target="../media/image27.png"/><Relationship Id="rId4" Type="http://schemas.openxmlformats.org/officeDocument/2006/relationships/image" Target="../media/image26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9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793790" y="619125"/>
            <a:ext cx="7556421" cy="2381488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Team No - 11</a:t>
            </a:r>
          </a:p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Title - </a:t>
            </a:r>
            <a:r>
              <a:rPr lang="en-US" sz="4450" b="1" u="sng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IPL Score Prediction with Deep Learning</a:t>
            </a:r>
            <a:endParaRPr lang="en-US" sz="4450" u="sng" dirty="0"/>
          </a:p>
        </p:txBody>
      </p:sp>
      <p:sp>
        <p:nvSpPr>
          <p:cNvPr id="4" name="Text 1"/>
          <p:cNvSpPr/>
          <p:nvPr/>
        </p:nvSpPr>
        <p:spPr>
          <a:xfrm>
            <a:off x="793790" y="3340775"/>
            <a:ext cx="7556421" cy="145161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This project aims to predict IPL innings scores using deep learning. We leverage early match data to forecast outcomes, enhancing strategic insights and real-time analysis. Our goal is to achieve high accuracy with minimal error.</a:t>
            </a:r>
            <a:endParaRPr lang="en-US" sz="1750" dirty="0"/>
          </a:p>
        </p:txBody>
      </p:sp>
      <p:sp>
        <p:nvSpPr>
          <p:cNvPr id="5" name="Text 2"/>
          <p:cNvSpPr/>
          <p:nvPr/>
        </p:nvSpPr>
        <p:spPr>
          <a:xfrm>
            <a:off x="793790" y="5047536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endParaRPr lang="en-US" sz="1750" dirty="0"/>
          </a:p>
        </p:txBody>
      </p:sp>
      <p:sp>
        <p:nvSpPr>
          <p:cNvPr id="6" name="Text 3"/>
          <p:cNvSpPr/>
          <p:nvPr/>
        </p:nvSpPr>
        <p:spPr>
          <a:xfrm>
            <a:off x="793790" y="5665589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Irshad Ahmad S   1BG23CS051</a:t>
            </a:r>
            <a:endParaRPr lang="en-US" sz="1750" dirty="0"/>
          </a:p>
        </p:txBody>
      </p:sp>
      <p:sp>
        <p:nvSpPr>
          <p:cNvPr id="7" name="Text 4"/>
          <p:cNvSpPr/>
          <p:nvPr/>
        </p:nvSpPr>
        <p:spPr>
          <a:xfrm>
            <a:off x="793790" y="6283643"/>
            <a:ext cx="755642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Ruchit Pahadia    1BG23CS124</a:t>
            </a:r>
            <a:endParaRPr lang="en-US" sz="175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296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15658" y="706517"/>
            <a:ext cx="7044452" cy="651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100"/>
              </a:lnSpc>
              <a:buNone/>
            </a:pPr>
            <a:r>
              <a:rPr lang="en-US" sz="41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Methodology and Workflow</a:t>
            </a:r>
            <a:endParaRPr lang="en-US" sz="4100" dirty="0"/>
          </a:p>
        </p:txBody>
      </p:sp>
      <p:pic>
        <p:nvPicPr>
          <p:cNvPr id="4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15658" y="1670328"/>
            <a:ext cx="1041916" cy="1250275"/>
          </a:xfrm>
          <a:prstGeom prst="rect">
            <a:avLst/>
          </a:prstGeom>
        </p:spPr>
      </p:pic>
      <p:sp>
        <p:nvSpPr>
          <p:cNvPr id="5" name="Text 1"/>
          <p:cNvSpPr/>
          <p:nvPr/>
        </p:nvSpPr>
        <p:spPr>
          <a:xfrm>
            <a:off x="7465933" y="1878687"/>
            <a:ext cx="2604730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Source</a:t>
            </a:r>
            <a:endParaRPr lang="en-US" sz="2050" dirty="0"/>
          </a:p>
        </p:txBody>
      </p:sp>
      <p:sp>
        <p:nvSpPr>
          <p:cNvPr id="6" name="Text 2"/>
          <p:cNvSpPr/>
          <p:nvPr/>
        </p:nvSpPr>
        <p:spPr>
          <a:xfrm>
            <a:off x="7465933" y="2329339"/>
            <a:ext cx="6435209" cy="3333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IPL ball-by-ball data from 2008–2023.</a:t>
            </a:r>
            <a:endParaRPr lang="en-US" sz="1600" dirty="0"/>
          </a:p>
        </p:txBody>
      </p:sp>
      <p:pic>
        <p:nvPicPr>
          <p:cNvPr id="7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215658" y="2920603"/>
            <a:ext cx="1041916" cy="1534120"/>
          </a:xfrm>
          <a:prstGeom prst="rect">
            <a:avLst/>
          </a:prstGeom>
        </p:spPr>
      </p:pic>
      <p:sp>
        <p:nvSpPr>
          <p:cNvPr id="8" name="Text 3"/>
          <p:cNvSpPr/>
          <p:nvPr/>
        </p:nvSpPr>
        <p:spPr>
          <a:xfrm>
            <a:off x="7465933" y="3128963"/>
            <a:ext cx="2672239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EDA &amp; Preprocessing</a:t>
            </a:r>
            <a:endParaRPr lang="en-US" sz="2050" dirty="0"/>
          </a:p>
        </p:txBody>
      </p:sp>
      <p:sp>
        <p:nvSpPr>
          <p:cNvPr id="9" name="Text 4"/>
          <p:cNvSpPr/>
          <p:nvPr/>
        </p:nvSpPr>
        <p:spPr>
          <a:xfrm>
            <a:off x="7465933" y="3579614"/>
            <a:ext cx="6435209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Explored data distribution, encoded categorical features, and scaled numerical data.</a:t>
            </a:r>
            <a:endParaRPr lang="en-US" sz="1600" dirty="0"/>
          </a:p>
        </p:txBody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5658" y="4454723"/>
            <a:ext cx="1041916" cy="15341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7465933" y="4663083"/>
            <a:ext cx="2604730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Building</a:t>
            </a:r>
            <a:endParaRPr lang="en-US" sz="2050" dirty="0"/>
          </a:p>
        </p:txBody>
      </p:sp>
      <p:sp>
        <p:nvSpPr>
          <p:cNvPr id="12" name="Text 6"/>
          <p:cNvSpPr/>
          <p:nvPr/>
        </p:nvSpPr>
        <p:spPr>
          <a:xfrm>
            <a:off x="7465933" y="5113734"/>
            <a:ext cx="6435209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Keras Sequential model with Dense layers (128 → 64 → 32), ReLU, Adam optimizer, MSE loss.</a:t>
            </a:r>
            <a:endParaRPr lang="en-US" sz="160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215658" y="5988844"/>
            <a:ext cx="1041916" cy="1534120"/>
          </a:xfrm>
          <a:prstGeom prst="rect">
            <a:avLst/>
          </a:prstGeom>
        </p:spPr>
      </p:pic>
      <p:sp>
        <p:nvSpPr>
          <p:cNvPr id="14" name="Text 7"/>
          <p:cNvSpPr/>
          <p:nvPr/>
        </p:nvSpPr>
        <p:spPr>
          <a:xfrm>
            <a:off x="7465933" y="6197203"/>
            <a:ext cx="2604730" cy="32563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550"/>
              </a:lnSpc>
              <a:buNone/>
            </a:pPr>
            <a:r>
              <a:rPr lang="en-US" sz="20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Training Setup</a:t>
            </a:r>
            <a:endParaRPr lang="en-US" sz="2050" dirty="0"/>
          </a:p>
        </p:txBody>
      </p:sp>
      <p:sp>
        <p:nvSpPr>
          <p:cNvPr id="15" name="Text 8"/>
          <p:cNvSpPr/>
          <p:nvPr/>
        </p:nvSpPr>
        <p:spPr>
          <a:xfrm>
            <a:off x="7465933" y="6647855"/>
            <a:ext cx="6435209" cy="66675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600"/>
              </a:lnSpc>
              <a:buNone/>
            </a:pPr>
            <a:r>
              <a:rPr lang="en-US" sz="16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80/20 train-test split, 100 epochs, monitored with validation loss plots.</a:t>
            </a:r>
            <a:endParaRPr lang="en-US" sz="16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56ABB7BF-D601-AD3D-27C8-BD7F20B67513}"/>
              </a:ext>
            </a:extLst>
          </p:cNvPr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830175" y="7753291"/>
            <a:ext cx="1689259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5486400" cy="8234482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6243757" y="595074"/>
            <a:ext cx="5410200" cy="67627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300"/>
              </a:lnSpc>
              <a:buNone/>
            </a:pPr>
            <a:r>
              <a:rPr lang="en-US" sz="42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Key Assumptions</a:t>
            </a:r>
            <a:endParaRPr lang="en-US" sz="4250" dirty="0"/>
          </a:p>
        </p:txBody>
      </p:sp>
      <p:sp>
        <p:nvSpPr>
          <p:cNvPr id="4" name="Shape 1"/>
          <p:cNvSpPr/>
          <p:nvPr/>
        </p:nvSpPr>
        <p:spPr>
          <a:xfrm>
            <a:off x="6243757" y="1595914"/>
            <a:ext cx="7629287" cy="1262063"/>
          </a:xfrm>
          <a:prstGeom prst="roundRect">
            <a:avLst>
              <a:gd name="adj" fmla="val 7202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5" name="Text 2"/>
          <p:cNvSpPr/>
          <p:nvPr/>
        </p:nvSpPr>
        <p:spPr>
          <a:xfrm>
            <a:off x="6467713" y="1819870"/>
            <a:ext cx="2705100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Early Influence</a:t>
            </a:r>
            <a:endParaRPr lang="en-US" sz="2100" dirty="0"/>
          </a:p>
        </p:txBody>
      </p:sp>
      <p:sp>
        <p:nvSpPr>
          <p:cNvPr id="6" name="Text 3"/>
          <p:cNvSpPr/>
          <p:nvPr/>
        </p:nvSpPr>
        <p:spPr>
          <a:xfrm>
            <a:off x="6467713" y="2287786"/>
            <a:ext cx="7181374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First 5-6 overs significantly influence final score.</a:t>
            </a:r>
            <a:endParaRPr lang="en-US" sz="1700" dirty="0"/>
          </a:p>
        </p:txBody>
      </p:sp>
      <p:sp>
        <p:nvSpPr>
          <p:cNvPr id="7" name="Shape 4"/>
          <p:cNvSpPr/>
          <p:nvPr/>
        </p:nvSpPr>
        <p:spPr>
          <a:xfrm>
            <a:off x="6243757" y="3074313"/>
            <a:ext cx="7629287" cy="1262063"/>
          </a:xfrm>
          <a:prstGeom prst="roundRect">
            <a:avLst>
              <a:gd name="adj" fmla="val 7202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8" name="Text 5"/>
          <p:cNvSpPr/>
          <p:nvPr/>
        </p:nvSpPr>
        <p:spPr>
          <a:xfrm>
            <a:off x="6467713" y="3298269"/>
            <a:ext cx="2705100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Statistical Roles</a:t>
            </a:r>
            <a:endParaRPr lang="en-US" sz="2100" dirty="0"/>
          </a:p>
        </p:txBody>
      </p:sp>
      <p:sp>
        <p:nvSpPr>
          <p:cNvPr id="9" name="Text 6"/>
          <p:cNvSpPr/>
          <p:nvPr/>
        </p:nvSpPr>
        <p:spPr>
          <a:xfrm>
            <a:off x="6467713" y="3766185"/>
            <a:ext cx="7181374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Teams and venues have significant statistical impact.</a:t>
            </a:r>
            <a:endParaRPr lang="en-US" sz="1700" dirty="0"/>
          </a:p>
        </p:txBody>
      </p:sp>
      <p:sp>
        <p:nvSpPr>
          <p:cNvPr id="10" name="Shape 7"/>
          <p:cNvSpPr/>
          <p:nvPr/>
        </p:nvSpPr>
        <p:spPr>
          <a:xfrm>
            <a:off x="6243757" y="4552712"/>
            <a:ext cx="7629287" cy="1608296"/>
          </a:xfrm>
          <a:prstGeom prst="roundRect">
            <a:avLst>
              <a:gd name="adj" fmla="val 5651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1" name="Text 8"/>
          <p:cNvSpPr/>
          <p:nvPr/>
        </p:nvSpPr>
        <p:spPr>
          <a:xfrm>
            <a:off x="6467713" y="4776668"/>
            <a:ext cx="3079075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Player/External Factors</a:t>
            </a:r>
            <a:endParaRPr lang="en-US" sz="2100" dirty="0"/>
          </a:p>
        </p:txBody>
      </p:sp>
      <p:sp>
        <p:nvSpPr>
          <p:cNvPr id="12" name="Text 9"/>
          <p:cNvSpPr/>
          <p:nvPr/>
        </p:nvSpPr>
        <p:spPr>
          <a:xfrm>
            <a:off x="6467713" y="5244584"/>
            <a:ext cx="7181374" cy="69246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Player skills and external factors (weather) are averaged out or excluded.</a:t>
            </a:r>
            <a:endParaRPr lang="en-US" sz="1700" dirty="0"/>
          </a:p>
        </p:txBody>
      </p:sp>
      <p:sp>
        <p:nvSpPr>
          <p:cNvPr id="13" name="Shape 10"/>
          <p:cNvSpPr/>
          <p:nvPr/>
        </p:nvSpPr>
        <p:spPr>
          <a:xfrm>
            <a:off x="6243757" y="6377345"/>
            <a:ext cx="7629287" cy="1262063"/>
          </a:xfrm>
          <a:prstGeom prst="roundRect">
            <a:avLst>
              <a:gd name="adj" fmla="val 7202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sp>
        <p:nvSpPr>
          <p:cNvPr id="14" name="Text 11"/>
          <p:cNvSpPr/>
          <p:nvPr/>
        </p:nvSpPr>
        <p:spPr>
          <a:xfrm>
            <a:off x="6467713" y="6601301"/>
            <a:ext cx="2777966" cy="33813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650"/>
              </a:lnSpc>
              <a:buNone/>
            </a:pPr>
            <a:r>
              <a:rPr lang="en-US" sz="21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Aggregated Features</a:t>
            </a:r>
            <a:endParaRPr lang="en-US" sz="2100" dirty="0"/>
          </a:p>
        </p:txBody>
      </p:sp>
      <p:sp>
        <p:nvSpPr>
          <p:cNvPr id="15" name="Text 12"/>
          <p:cNvSpPr/>
          <p:nvPr/>
        </p:nvSpPr>
        <p:spPr>
          <a:xfrm>
            <a:off x="6467713" y="7069217"/>
            <a:ext cx="7181374" cy="34623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Simplified over-by-over data forms a static input.</a:t>
            </a:r>
            <a:endParaRPr lang="en-US" sz="1700" dirty="0"/>
          </a:p>
        </p:txBody>
      </p:sp>
      <p:pic>
        <p:nvPicPr>
          <p:cNvPr id="17" name="Picture 16">
            <a:extLst>
              <a:ext uri="{FF2B5EF4-FFF2-40B4-BE49-F238E27FC236}">
                <a16:creationId xmlns:a16="http://schemas.microsoft.com/office/drawing/2014/main" id="{F571032A-804D-C87F-ACFA-C9E1A7BDB0A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53890" y="7678638"/>
            <a:ext cx="1776510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909995"/>
            <a:ext cx="8467844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Model Evaluation and Analysis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793790" y="218574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Evaluation Metrics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2766893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Mean Squared Error (MSE)</a:t>
            </a:r>
            <a:endParaRPr lang="en-US" sz="1750" dirty="0"/>
          </a:p>
        </p:txBody>
      </p:sp>
      <p:sp>
        <p:nvSpPr>
          <p:cNvPr id="5" name="Text 3"/>
          <p:cNvSpPr/>
          <p:nvPr/>
        </p:nvSpPr>
        <p:spPr>
          <a:xfrm>
            <a:off x="793790" y="320909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R² score (variance explanation)</a:t>
            </a:r>
            <a:endParaRPr lang="en-US" sz="1750" dirty="0"/>
          </a:p>
        </p:txBody>
      </p:sp>
      <p:sp>
        <p:nvSpPr>
          <p:cNvPr id="6" name="Text 4"/>
          <p:cNvSpPr/>
          <p:nvPr/>
        </p:nvSpPr>
        <p:spPr>
          <a:xfrm>
            <a:off x="793790" y="379880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Results</a:t>
            </a:r>
            <a:endParaRPr lang="en-US" sz="2200" dirty="0"/>
          </a:p>
        </p:txBody>
      </p:sp>
      <p:sp>
        <p:nvSpPr>
          <p:cNvPr id="7" name="Text 5"/>
          <p:cNvSpPr/>
          <p:nvPr/>
        </p:nvSpPr>
        <p:spPr>
          <a:xfrm>
            <a:off x="793790" y="4379952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Most innings within &lt;10 runs error.</a:t>
            </a:r>
            <a:endParaRPr lang="en-US" sz="1750" dirty="0"/>
          </a:p>
        </p:txBody>
      </p:sp>
      <p:sp>
        <p:nvSpPr>
          <p:cNvPr id="8" name="Text 6"/>
          <p:cNvSpPr/>
          <p:nvPr/>
        </p:nvSpPr>
        <p:spPr>
          <a:xfrm>
            <a:off x="793790" y="4822150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Strong alignment with actual scores.</a:t>
            </a:r>
            <a:endParaRPr lang="en-US" sz="1750" dirty="0"/>
          </a:p>
        </p:txBody>
      </p:sp>
      <p:sp>
        <p:nvSpPr>
          <p:cNvPr id="9" name="Text 7"/>
          <p:cNvSpPr/>
          <p:nvPr/>
        </p:nvSpPr>
        <p:spPr>
          <a:xfrm>
            <a:off x="793790" y="541186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Analysis</a:t>
            </a:r>
            <a:endParaRPr lang="en-US" sz="2200" dirty="0"/>
          </a:p>
        </p:txBody>
      </p:sp>
      <p:sp>
        <p:nvSpPr>
          <p:cNvPr id="10" name="Text 8"/>
          <p:cNvSpPr/>
          <p:nvPr/>
        </p:nvSpPr>
        <p:spPr>
          <a:xfrm>
            <a:off x="793790" y="5993011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Performed well on average innings.</a:t>
            </a:r>
            <a:endParaRPr lang="en-US" sz="1750" dirty="0"/>
          </a:p>
        </p:txBody>
      </p:sp>
      <p:sp>
        <p:nvSpPr>
          <p:cNvPr id="11" name="Text 9"/>
          <p:cNvSpPr/>
          <p:nvPr/>
        </p:nvSpPr>
        <p:spPr>
          <a:xfrm>
            <a:off x="793790" y="6435209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Slight underperformance on outlier scores.</a:t>
            </a:r>
            <a:endParaRPr lang="en-US" sz="1750" dirty="0"/>
          </a:p>
        </p:txBody>
      </p:sp>
      <p:sp>
        <p:nvSpPr>
          <p:cNvPr id="12" name="Text 10"/>
          <p:cNvSpPr/>
          <p:nvPr/>
        </p:nvSpPr>
        <p:spPr>
          <a:xfrm>
            <a:off x="793790" y="6877407"/>
            <a:ext cx="6244709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342900" indent="-342900" algn="l">
              <a:lnSpc>
                <a:spcPts val="2850"/>
              </a:lnSpc>
              <a:buSzPct val="100000"/>
              <a:buChar char="•"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Good generalization within input scope.</a:t>
            </a:r>
            <a:endParaRPr lang="en-US" sz="1750" dirty="0"/>
          </a:p>
        </p:txBody>
      </p:sp>
      <p:pic>
        <p:nvPicPr>
          <p:cNvPr id="13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599521" y="2214086"/>
            <a:ext cx="6244709" cy="4690110"/>
          </a:xfrm>
          <a:prstGeom prst="rect">
            <a:avLst/>
          </a:prstGeom>
        </p:spPr>
      </p:pic>
      <p:pic>
        <p:nvPicPr>
          <p:cNvPr id="15" name="Picture 14">
            <a:extLst>
              <a:ext uri="{FF2B5EF4-FFF2-40B4-BE49-F238E27FC236}">
                <a16:creationId xmlns:a16="http://schemas.microsoft.com/office/drawing/2014/main" id="{3C49B268-75FC-A06D-9CC5-B5E60027EB21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844365" y="7723676"/>
            <a:ext cx="1652685" cy="5059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44000" y="0"/>
            <a:ext cx="5486400" cy="8232219"/>
          </a:xfrm>
          <a:prstGeom prst="rect">
            <a:avLst/>
          </a:prstGeom>
        </p:spPr>
      </p:pic>
      <p:pic>
        <p:nvPicPr>
          <p:cNvPr id="3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0300" y="2752130"/>
            <a:ext cx="3733800" cy="2727960"/>
          </a:xfrm>
          <a:prstGeom prst="rect">
            <a:avLst/>
          </a:prstGeom>
        </p:spPr>
      </p:pic>
      <p:sp>
        <p:nvSpPr>
          <p:cNvPr id="4" name="Text 0"/>
          <p:cNvSpPr/>
          <p:nvPr/>
        </p:nvSpPr>
        <p:spPr>
          <a:xfrm>
            <a:off x="773073" y="607457"/>
            <a:ext cx="7597854" cy="13804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5400"/>
              </a:lnSpc>
              <a:buNone/>
            </a:pPr>
            <a:r>
              <a:rPr lang="en-US" sz="430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Project Summary and Outcomes</a:t>
            </a:r>
            <a:endParaRPr lang="en-US" sz="4300" dirty="0"/>
          </a:p>
        </p:txBody>
      </p:sp>
      <p:sp>
        <p:nvSpPr>
          <p:cNvPr id="5" name="Shape 1"/>
          <p:cNvSpPr/>
          <p:nvPr/>
        </p:nvSpPr>
        <p:spPr>
          <a:xfrm>
            <a:off x="773073" y="2319099"/>
            <a:ext cx="496967" cy="496967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pic>
        <p:nvPicPr>
          <p:cNvPr id="6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855940" y="2360533"/>
            <a:ext cx="331232" cy="414099"/>
          </a:xfrm>
          <a:prstGeom prst="rect">
            <a:avLst/>
          </a:prstGeom>
        </p:spPr>
      </p:pic>
      <p:sp>
        <p:nvSpPr>
          <p:cNvPr id="7" name="Text 2"/>
          <p:cNvSpPr/>
          <p:nvPr/>
        </p:nvSpPr>
        <p:spPr>
          <a:xfrm>
            <a:off x="1490901" y="2394942"/>
            <a:ext cx="3174325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Deep Learning Success</a:t>
            </a:r>
            <a:endParaRPr lang="en-US" sz="2150" dirty="0"/>
          </a:p>
        </p:txBody>
      </p:sp>
      <p:sp>
        <p:nvSpPr>
          <p:cNvPr id="8" name="Text 3"/>
          <p:cNvSpPr/>
          <p:nvPr/>
        </p:nvSpPr>
        <p:spPr>
          <a:xfrm>
            <a:off x="1490901" y="2872502"/>
            <a:ext cx="688002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Built an accurate neural network for IPL score prediction.</a:t>
            </a:r>
            <a:endParaRPr lang="en-US" sz="1700" dirty="0"/>
          </a:p>
        </p:txBody>
      </p:sp>
      <p:sp>
        <p:nvSpPr>
          <p:cNvPr id="9" name="Shape 4"/>
          <p:cNvSpPr/>
          <p:nvPr/>
        </p:nvSpPr>
        <p:spPr>
          <a:xfrm>
            <a:off x="773073" y="3667601"/>
            <a:ext cx="496967" cy="496967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55940" y="3709035"/>
            <a:ext cx="331232" cy="414099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1490901" y="3743444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Full ML Lifecycle</a:t>
            </a:r>
            <a:endParaRPr lang="en-US" sz="2150" dirty="0"/>
          </a:p>
        </p:txBody>
      </p:sp>
      <p:sp>
        <p:nvSpPr>
          <p:cNvPr id="12" name="Text 6"/>
          <p:cNvSpPr/>
          <p:nvPr/>
        </p:nvSpPr>
        <p:spPr>
          <a:xfrm>
            <a:off x="1490901" y="4221004"/>
            <a:ext cx="6880027" cy="70675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Covered EDA, preprocessing, modeling, and evaluation comprehensively.</a:t>
            </a:r>
            <a:endParaRPr lang="en-US" sz="1700" dirty="0"/>
          </a:p>
        </p:txBody>
      </p:sp>
      <p:sp>
        <p:nvSpPr>
          <p:cNvPr id="13" name="Shape 7"/>
          <p:cNvSpPr/>
          <p:nvPr/>
        </p:nvSpPr>
        <p:spPr>
          <a:xfrm>
            <a:off x="773073" y="5369481"/>
            <a:ext cx="496967" cy="496967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pic>
        <p:nvPicPr>
          <p:cNvPr id="14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855940" y="5410914"/>
            <a:ext cx="331232" cy="414099"/>
          </a:xfrm>
          <a:prstGeom prst="rect">
            <a:avLst/>
          </a:prstGeom>
        </p:spPr>
      </p:pic>
      <p:sp>
        <p:nvSpPr>
          <p:cNvPr id="15" name="Text 8"/>
          <p:cNvSpPr/>
          <p:nvPr/>
        </p:nvSpPr>
        <p:spPr>
          <a:xfrm>
            <a:off x="1490901" y="5445323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Early Feature Power</a:t>
            </a:r>
            <a:endParaRPr lang="en-US" sz="2150" dirty="0"/>
          </a:p>
        </p:txBody>
      </p:sp>
      <p:sp>
        <p:nvSpPr>
          <p:cNvPr id="16" name="Text 9"/>
          <p:cNvSpPr/>
          <p:nvPr/>
        </p:nvSpPr>
        <p:spPr>
          <a:xfrm>
            <a:off x="1490901" y="5922883"/>
            <a:ext cx="688002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Demonstrated the predictive power of early match features.</a:t>
            </a:r>
            <a:endParaRPr lang="en-US" sz="1700" dirty="0"/>
          </a:p>
        </p:txBody>
      </p:sp>
      <p:sp>
        <p:nvSpPr>
          <p:cNvPr id="17" name="Shape 10"/>
          <p:cNvSpPr/>
          <p:nvPr/>
        </p:nvSpPr>
        <p:spPr>
          <a:xfrm>
            <a:off x="773073" y="6717982"/>
            <a:ext cx="496967" cy="496967"/>
          </a:xfrm>
          <a:prstGeom prst="roundRect">
            <a:avLst>
              <a:gd name="adj" fmla="val 18669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pic>
        <p:nvPicPr>
          <p:cNvPr id="18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55940" y="6759416"/>
            <a:ext cx="331232" cy="414099"/>
          </a:xfrm>
          <a:prstGeom prst="rect">
            <a:avLst/>
          </a:prstGeom>
        </p:spPr>
      </p:pic>
      <p:sp>
        <p:nvSpPr>
          <p:cNvPr id="19" name="Text 11"/>
          <p:cNvSpPr/>
          <p:nvPr/>
        </p:nvSpPr>
        <p:spPr>
          <a:xfrm>
            <a:off x="1490901" y="6793825"/>
            <a:ext cx="2761178" cy="3450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00"/>
              </a:lnSpc>
              <a:buNone/>
            </a:pPr>
            <a:r>
              <a:rPr lang="en-US" sz="215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Goal Achieved</a:t>
            </a:r>
            <a:endParaRPr lang="en-US" sz="2150" dirty="0"/>
          </a:p>
        </p:txBody>
      </p:sp>
      <p:sp>
        <p:nvSpPr>
          <p:cNvPr id="20" name="Text 12"/>
          <p:cNvSpPr/>
          <p:nvPr/>
        </p:nvSpPr>
        <p:spPr>
          <a:xfrm>
            <a:off x="1490901" y="7271385"/>
            <a:ext cx="6880027" cy="35337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170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Met primary objective with low MSE and close predictions.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1251109"/>
            <a:ext cx="10273189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Future Improvements and Extensions</a:t>
            </a:r>
            <a:endParaRPr lang="en-US" sz="4450" dirty="0"/>
          </a:p>
        </p:txBody>
      </p:sp>
      <p:sp>
        <p:nvSpPr>
          <p:cNvPr id="3" name="Text 1"/>
          <p:cNvSpPr/>
          <p:nvPr/>
        </p:nvSpPr>
        <p:spPr>
          <a:xfrm>
            <a:off x="1857256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Temporal Modeling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793790" y="3351967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Integrate RNNs/LSTMs for ball-wise progression.</a:t>
            </a:r>
            <a:endParaRPr lang="en-US" sz="1750" dirty="0"/>
          </a:p>
        </p:txBody>
      </p:sp>
      <p:pic>
        <p:nvPicPr>
          <p:cNvPr id="5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6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26731" y="3176588"/>
            <a:ext cx="339328" cy="424220"/>
          </a:xfrm>
          <a:prstGeom prst="rect">
            <a:avLst/>
          </a:prstGeom>
        </p:spPr>
      </p:pic>
      <p:sp>
        <p:nvSpPr>
          <p:cNvPr id="7" name="Text 3"/>
          <p:cNvSpPr/>
          <p:nvPr/>
        </p:nvSpPr>
        <p:spPr>
          <a:xfrm>
            <a:off x="9937790" y="286154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Player Stats</a:t>
            </a:r>
            <a:endParaRPr lang="en-US" sz="2200" dirty="0"/>
          </a:p>
        </p:txBody>
      </p:sp>
      <p:sp>
        <p:nvSpPr>
          <p:cNvPr id="8" name="Text 4"/>
          <p:cNvSpPr/>
          <p:nvPr/>
        </p:nvSpPr>
        <p:spPr>
          <a:xfrm>
            <a:off x="9937790" y="3351967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Incorporate player form and strike rates.</a:t>
            </a:r>
            <a:endParaRPr lang="en-US" sz="1750" dirty="0"/>
          </a:p>
        </p:txBody>
      </p:sp>
      <p:pic>
        <p:nvPicPr>
          <p:cNvPr id="9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0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8452604" y="3565088"/>
            <a:ext cx="339328" cy="424220"/>
          </a:xfrm>
          <a:prstGeom prst="rect">
            <a:avLst/>
          </a:prstGeom>
        </p:spPr>
      </p:pic>
      <p:sp>
        <p:nvSpPr>
          <p:cNvPr id="11" name="Text 5"/>
          <p:cNvSpPr/>
          <p:nvPr/>
        </p:nvSpPr>
        <p:spPr>
          <a:xfrm>
            <a:off x="9937790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External Context</a:t>
            </a:r>
            <a:endParaRPr lang="en-US" sz="2200" dirty="0"/>
          </a:p>
        </p:txBody>
      </p:sp>
      <p:sp>
        <p:nvSpPr>
          <p:cNvPr id="12" name="Text 6"/>
          <p:cNvSpPr/>
          <p:nvPr/>
        </p:nvSpPr>
        <p:spPr>
          <a:xfrm>
            <a:off x="9937790" y="5804535"/>
            <a:ext cx="3898821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Add pitch condition, toss result, and weather data.</a:t>
            </a:r>
            <a:endParaRPr lang="en-US" sz="1750" dirty="0"/>
          </a:p>
        </p:txBody>
      </p:sp>
      <p:pic>
        <p:nvPicPr>
          <p:cNvPr id="13" name="Image 4" descr="preencoded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4" name="Image 5" descr="preencoded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8064103" y="5790962"/>
            <a:ext cx="339328" cy="424220"/>
          </a:xfrm>
          <a:prstGeom prst="rect">
            <a:avLst/>
          </a:prstGeom>
        </p:spPr>
      </p:pic>
      <p:sp>
        <p:nvSpPr>
          <p:cNvPr id="15" name="Text 7"/>
          <p:cNvSpPr/>
          <p:nvPr/>
        </p:nvSpPr>
        <p:spPr>
          <a:xfrm>
            <a:off x="1857256" y="5314117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r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Real-time API</a:t>
            </a:r>
            <a:endParaRPr lang="en-US" sz="2200" dirty="0"/>
          </a:p>
        </p:txBody>
      </p:sp>
      <p:sp>
        <p:nvSpPr>
          <p:cNvPr id="16" name="Text 8"/>
          <p:cNvSpPr/>
          <p:nvPr/>
        </p:nvSpPr>
        <p:spPr>
          <a:xfrm>
            <a:off x="793790" y="5804535"/>
            <a:ext cx="3898702" cy="725805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r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Develop a live prediction dashboard.</a:t>
            </a:r>
            <a:endParaRPr lang="en-US" sz="1750" dirty="0"/>
          </a:p>
        </p:txBody>
      </p:sp>
      <p:pic>
        <p:nvPicPr>
          <p:cNvPr id="17" name="Image 6" descr="preencoded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032653" y="2413516"/>
            <a:ext cx="4564975" cy="4564975"/>
          </a:xfrm>
          <a:prstGeom prst="rect">
            <a:avLst/>
          </a:prstGeom>
        </p:spPr>
      </p:pic>
      <p:pic>
        <p:nvPicPr>
          <p:cNvPr id="18" name="Image 7" descr="preencoded.png"/>
          <p:cNvPicPr>
            <a:picLocks noChangeAspect="1"/>
          </p:cNvPicPr>
          <p:nvPr/>
        </p:nvPicPr>
        <p:blipFill>
          <a:blip r:embed="rId10"/>
          <a:stretch>
            <a:fillRect/>
          </a:stretch>
        </p:blipFill>
        <p:spPr>
          <a:xfrm>
            <a:off x="5838230" y="5402461"/>
            <a:ext cx="339328" cy="424220"/>
          </a:xfrm>
          <a:prstGeom prst="rect">
            <a:avLst/>
          </a:prstGeom>
        </p:spPr>
      </p:pic>
      <p:pic>
        <p:nvPicPr>
          <p:cNvPr id="20" name="Picture 19">
            <a:extLst>
              <a:ext uri="{FF2B5EF4-FFF2-40B4-BE49-F238E27FC236}">
                <a16:creationId xmlns:a16="http://schemas.microsoft.com/office/drawing/2014/main" id="{72AD95C9-FFC2-3D15-79C9-C2DC6B749A8A}"/>
              </a:ext>
            </a:extLst>
      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12896850" y="7800915"/>
            <a:ext cx="1639946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93790" y="749617"/>
            <a:ext cx="9867543" cy="70877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5550"/>
              </a:lnSpc>
              <a:buNone/>
            </a:pPr>
            <a:r>
              <a:rPr lang="en-US" sz="4450" b="1" dirty="0">
                <a:solidFill>
                  <a:srgbClr val="FFFFF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Reflections and Learning Outcomes</a:t>
            </a:r>
            <a:endParaRPr lang="en-US" sz="4450" dirty="0"/>
          </a:p>
        </p:txBody>
      </p:sp>
      <p:sp>
        <p:nvSpPr>
          <p:cNvPr id="3" name="Shape 1"/>
          <p:cNvSpPr/>
          <p:nvPr/>
        </p:nvSpPr>
        <p:spPr>
          <a:xfrm>
            <a:off x="793790" y="1912025"/>
            <a:ext cx="1630323" cy="1306949"/>
          </a:xfrm>
          <a:prstGeom prst="roundRect">
            <a:avLst>
              <a:gd name="adj" fmla="val 7289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pic>
        <p:nvPicPr>
          <p:cNvPr id="4" name="Image 0" descr="preencoded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449467" y="2366129"/>
            <a:ext cx="318968" cy="398621"/>
          </a:xfrm>
          <a:prstGeom prst="rect">
            <a:avLst/>
          </a:prstGeom>
        </p:spPr>
      </p:pic>
      <p:sp>
        <p:nvSpPr>
          <p:cNvPr id="5" name="Text 2"/>
          <p:cNvSpPr/>
          <p:nvPr/>
        </p:nvSpPr>
        <p:spPr>
          <a:xfrm>
            <a:off x="2650927" y="2138839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Data Preparation</a:t>
            </a:r>
            <a:endParaRPr lang="en-US" sz="2200" dirty="0"/>
          </a:p>
        </p:txBody>
      </p:sp>
      <p:sp>
        <p:nvSpPr>
          <p:cNvPr id="6" name="Text 3"/>
          <p:cNvSpPr/>
          <p:nvPr/>
        </p:nvSpPr>
        <p:spPr>
          <a:xfrm>
            <a:off x="2650927" y="2629257"/>
            <a:ext cx="4556165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Learned to prepare real-world sports data.</a:t>
            </a:r>
            <a:endParaRPr lang="en-US" sz="1750" dirty="0"/>
          </a:p>
        </p:txBody>
      </p:sp>
      <p:sp>
        <p:nvSpPr>
          <p:cNvPr id="7" name="Shape 4"/>
          <p:cNvSpPr/>
          <p:nvPr/>
        </p:nvSpPr>
        <p:spPr>
          <a:xfrm>
            <a:off x="2537460" y="3203734"/>
            <a:ext cx="11185803" cy="15240"/>
          </a:xfrm>
          <a:prstGeom prst="roundRect">
            <a:avLst>
              <a:gd name="adj" fmla="val 625116"/>
            </a:avLst>
          </a:prstGeom>
          <a:solidFill>
            <a:srgbClr val="2A1999"/>
          </a:solidFill>
          <a:ln/>
        </p:spPr>
      </p:sp>
      <p:sp>
        <p:nvSpPr>
          <p:cNvPr id="8" name="Shape 5"/>
          <p:cNvSpPr/>
          <p:nvPr/>
        </p:nvSpPr>
        <p:spPr>
          <a:xfrm>
            <a:off x="793790" y="3332321"/>
            <a:ext cx="3260646" cy="1306949"/>
          </a:xfrm>
          <a:prstGeom prst="roundRect">
            <a:avLst>
              <a:gd name="adj" fmla="val 7289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pic>
        <p:nvPicPr>
          <p:cNvPr id="9" name="Image 1" descr="preencoded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2264569" y="3786426"/>
            <a:ext cx="318968" cy="398621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4281249" y="3559135"/>
            <a:ext cx="2997994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Hands-on Experience</a:t>
            </a:r>
            <a:endParaRPr lang="en-US" sz="2200" dirty="0"/>
          </a:p>
        </p:txBody>
      </p:sp>
      <p:sp>
        <p:nvSpPr>
          <p:cNvPr id="11" name="Text 7"/>
          <p:cNvSpPr/>
          <p:nvPr/>
        </p:nvSpPr>
        <p:spPr>
          <a:xfrm>
            <a:off x="4281249" y="4049554"/>
            <a:ext cx="5670590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Gained skills in encoding, NN design, and evaluation.</a:t>
            </a:r>
            <a:endParaRPr lang="en-US" sz="1750" dirty="0"/>
          </a:p>
        </p:txBody>
      </p:sp>
      <p:sp>
        <p:nvSpPr>
          <p:cNvPr id="12" name="Shape 8"/>
          <p:cNvSpPr/>
          <p:nvPr/>
        </p:nvSpPr>
        <p:spPr>
          <a:xfrm>
            <a:off x="4167783" y="4624030"/>
            <a:ext cx="9555480" cy="15240"/>
          </a:xfrm>
          <a:prstGeom prst="roundRect">
            <a:avLst>
              <a:gd name="adj" fmla="val 625116"/>
            </a:avLst>
          </a:prstGeom>
          <a:solidFill>
            <a:srgbClr val="2A1999"/>
          </a:solidFill>
          <a:ln/>
        </p:spPr>
      </p:sp>
      <p:sp>
        <p:nvSpPr>
          <p:cNvPr id="13" name="Shape 9"/>
          <p:cNvSpPr/>
          <p:nvPr/>
        </p:nvSpPr>
        <p:spPr>
          <a:xfrm>
            <a:off x="793790" y="4752618"/>
            <a:ext cx="4890968" cy="1306949"/>
          </a:xfrm>
          <a:prstGeom prst="roundRect">
            <a:avLst>
              <a:gd name="adj" fmla="val 7289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pic>
        <p:nvPicPr>
          <p:cNvPr id="14" name="Image 2" descr="preencoded.png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79790" y="5206722"/>
            <a:ext cx="318968" cy="398621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5911572" y="4979432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Feature Importance</a:t>
            </a:r>
            <a:endParaRPr lang="en-US" sz="2200" dirty="0"/>
          </a:p>
        </p:txBody>
      </p:sp>
      <p:sp>
        <p:nvSpPr>
          <p:cNvPr id="16" name="Text 11"/>
          <p:cNvSpPr/>
          <p:nvPr/>
        </p:nvSpPr>
        <p:spPr>
          <a:xfrm>
            <a:off x="5911572" y="5469850"/>
            <a:ext cx="5985986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Realized key role of feature selection and data cleaning.</a:t>
            </a:r>
            <a:endParaRPr lang="en-US" sz="1750" dirty="0"/>
          </a:p>
        </p:txBody>
      </p:sp>
      <p:sp>
        <p:nvSpPr>
          <p:cNvPr id="17" name="Shape 12"/>
          <p:cNvSpPr/>
          <p:nvPr/>
        </p:nvSpPr>
        <p:spPr>
          <a:xfrm>
            <a:off x="5798106" y="6044327"/>
            <a:ext cx="7925157" cy="15240"/>
          </a:xfrm>
          <a:prstGeom prst="roundRect">
            <a:avLst>
              <a:gd name="adj" fmla="val 625116"/>
            </a:avLst>
          </a:prstGeom>
          <a:solidFill>
            <a:srgbClr val="2A1999"/>
          </a:solidFill>
          <a:ln/>
        </p:spPr>
      </p:sp>
      <p:sp>
        <p:nvSpPr>
          <p:cNvPr id="18" name="Shape 13"/>
          <p:cNvSpPr/>
          <p:nvPr/>
        </p:nvSpPr>
        <p:spPr>
          <a:xfrm>
            <a:off x="793790" y="6172914"/>
            <a:ext cx="6521410" cy="1306949"/>
          </a:xfrm>
          <a:prstGeom prst="roundRect">
            <a:avLst>
              <a:gd name="adj" fmla="val 7289"/>
            </a:avLst>
          </a:prstGeom>
          <a:solidFill>
            <a:srgbClr val="110080"/>
          </a:solidFill>
          <a:ln w="7620">
            <a:solidFill>
              <a:srgbClr val="2A1999"/>
            </a:solidFill>
            <a:prstDash val="solid"/>
          </a:ln>
        </p:spPr>
      </p:sp>
      <p:pic>
        <p:nvPicPr>
          <p:cNvPr id="19" name="Image 3" descr="preencoded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3895011" y="6627019"/>
            <a:ext cx="318968" cy="398621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542014" y="6399728"/>
            <a:ext cx="2835235" cy="35433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750"/>
              </a:lnSpc>
              <a:buNone/>
            </a:pPr>
            <a:r>
              <a:rPr lang="en-US" sz="2200" b="1" dirty="0">
                <a:solidFill>
                  <a:srgbClr val="E5E0DF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Domain Knowledge</a:t>
            </a:r>
            <a:endParaRPr lang="en-US" sz="2200" dirty="0"/>
          </a:p>
        </p:txBody>
      </p:sp>
      <p:sp>
        <p:nvSpPr>
          <p:cNvPr id="21" name="Text 15"/>
          <p:cNvSpPr/>
          <p:nvPr/>
        </p:nvSpPr>
        <p:spPr>
          <a:xfrm>
            <a:off x="7542014" y="6890147"/>
            <a:ext cx="4303871" cy="36290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marL="0" indent="0" algn="l">
              <a:lnSpc>
                <a:spcPts val="2850"/>
              </a:lnSpc>
              <a:buNone/>
            </a:pPr>
            <a:r>
              <a:rPr lang="en-US" sz="1750" dirty="0">
                <a:solidFill>
                  <a:srgbClr val="E5E0DF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Understood its importance in sports ML.</a:t>
            </a:r>
            <a:endParaRPr lang="en-US" sz="1750" dirty="0"/>
          </a:p>
        </p:txBody>
      </p:sp>
      <p:pic>
        <p:nvPicPr>
          <p:cNvPr id="23" name="Picture 22">
            <a:extLst>
              <a:ext uri="{FF2B5EF4-FFF2-40B4-BE49-F238E27FC236}">
                <a16:creationId xmlns:a16="http://schemas.microsoft.com/office/drawing/2014/main" id="{2DE52C03-0B93-8BFF-022B-EFEE36C571F3}"/>
              </a:ext>
            </a:extLst>
          </p:cNvPr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12520515" y="7710457"/>
            <a:ext cx="2005110" cy="428685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EF8683C-AAAF-FB67-B687-6ECE07A0AC0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01515" y="7800915"/>
            <a:ext cx="1643160" cy="428685"/>
          </a:xfrm>
          <a:prstGeom prst="rect">
            <a:avLst/>
          </a:prstGeom>
        </p:spPr>
      </p:pic>
      <p:pic>
        <p:nvPicPr>
          <p:cNvPr id="5" name="Picture 4">
            <a:extLst>
              <a:ext uri="{FF2B5EF4-FFF2-40B4-BE49-F238E27FC236}">
                <a16:creationId xmlns:a16="http://schemas.microsoft.com/office/drawing/2014/main" id="{90458E3A-01CB-1DCE-C766-691D85EA5E5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605507"/>
            <a:ext cx="14630400" cy="701858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483127297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19</TotalTime>
  <Words>378</Words>
  <Application>Microsoft Office PowerPoint</Application>
  <PresentationFormat>Custom</PresentationFormat>
  <Paragraphs>68</Paragraphs>
  <Slides>8</Slides>
  <Notes>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8</vt:i4>
      </vt:variant>
    </vt:vector>
  </HeadingPairs>
  <TitlesOfParts>
    <vt:vector size="12" baseType="lpstr">
      <vt:lpstr>Arial</vt:lpstr>
      <vt:lpstr>Inter</vt:lpstr>
      <vt:lpstr>Inter Bold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nsirshad20@gmail.com</cp:lastModifiedBy>
  <cp:revision>4</cp:revision>
  <dcterms:created xsi:type="dcterms:W3CDTF">2025-06-16T06:49:04Z</dcterms:created>
  <dcterms:modified xsi:type="dcterms:W3CDTF">2025-06-17T09:34:53Z</dcterms:modified>
</cp:coreProperties>
</file>